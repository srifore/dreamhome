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ght_kitch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457200"/>
            <a:ext cx="6705295" cy="594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80990" y="731520"/>
            <a:ext cx="1828800" cy="1828800"/>
          </a:xfrm>
          <a:prstGeom prst="roundRect">
            <a:avLst/>
          </a:prstGeom>
          <a:noFill/>
          <a:ln w="254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743200"/>
            <a:ext cx="63395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0" b="1">
                <a:solidFill>
                  <a:srgbClr val="AA8420"/>
                </a:solidFill>
                <a:latin typeface="Georgia"/>
              </a:rPr>
              <a:t>DREAMHOME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474720"/>
            <a:ext cx="6339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C7DCB"/>
                </a:solidFill>
                <a:latin typeface="Arial"/>
              </a:defRPr>
            </a:pPr>
            <a:r>
              <a:t>THE PINNACLE OF LUXURY KITCHENS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0990" y="3977639"/>
            <a:ext cx="1828800" cy="18288"/>
          </a:xfrm>
          <a:prstGeom prst="rect">
            <a:avLst/>
          </a:prstGeom>
          <a:solidFill>
            <a:srgbClr val="AA8420"/>
          </a:solidFill>
          <a:ln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206240"/>
            <a:ext cx="633953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0D1727"/>
                </a:solidFill>
                <a:latin typeface="Arial"/>
              </a:defRPr>
            </a:pPr>
            <a:r>
              <a:t>INVESTOR &amp; COLLABORATION PROFILE</a:t>
            </a:r>
          </a:p>
          <a:p>
            <a:pPr algn="ctr">
              <a:spcAft>
                <a:spcPts val="400"/>
              </a:spcAft>
              <a:defRPr sz="900">
                <a:solidFill>
                  <a:srgbClr val="5C6C84"/>
                </a:solidFill>
                <a:latin typeface="Arial"/>
              </a:defRPr>
            </a:pPr>
            <a:r>
              <a:t># 301/1, B/W 16th &amp; 17th Cross, Sampige Road, Malleshwaram, Bangalore - 560003</a:t>
            </a:r>
          </a:p>
          <a:p>
            <a:pPr algn="ctr">
              <a:defRPr sz="900">
                <a:solidFill>
                  <a:srgbClr val="AA8420"/>
                </a:solidFill>
                <a:latin typeface="Arial"/>
              </a:defRPr>
            </a:pPr>
            <a:r>
              <a:t>Phone: 080-23344055, 9379599399 | Email: dreamhome.bengalure@gmail.com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6812280" y="1783080"/>
            <a:ext cx="4754880" cy="356616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bright_appliances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Experiential Showroom Hub</a:t>
            </a:r>
          </a:p>
        </p:txBody>
      </p:sp>
      <p:pic>
        <p:nvPicPr>
          <p:cNvPr id="6" name="Picture 5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Strategic Hub: </a:t>
            </a:r>
            <a:r>
              <a:rPr sz="1300">
                <a:solidFill>
                  <a:srgbClr val="5C6C84"/>
                </a:solidFill>
                <a:latin typeface="Arial"/>
              </a:rPr>
              <a:t>Malleshwaram prime retail node.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Elite Demographic: </a:t>
            </a:r>
            <a:r>
              <a:rPr sz="1300">
                <a:solidFill>
                  <a:srgbClr val="5C6C84"/>
                </a:solidFill>
                <a:latin typeface="Arial"/>
              </a:rPr>
              <a:t>Serving Bangalore high-net-worth.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Live Test Labs: </a:t>
            </a:r>
            <a:r>
              <a:rPr sz="1300">
                <a:solidFill>
                  <a:srgbClr val="5C6C84"/>
                </a:solidFill>
                <a:latin typeface="Arial"/>
              </a:rPr>
              <a:t>Active demonstrations in-store.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High Yields: </a:t>
            </a:r>
            <a:r>
              <a:rPr sz="1300">
                <a:solidFill>
                  <a:srgbClr val="5C6C84"/>
                </a:solidFill>
                <a:latin typeface="Arial"/>
              </a:rPr>
              <a:t>₹8L average retail ticket.</a:t>
            </a:r>
          </a:p>
        </p:txBody>
      </p:sp>
      <p:pic>
        <p:nvPicPr>
          <p:cNvPr id="10" name="Picture 9" descr="bright_appliances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ght_kitch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Elite Brand Portfolio</a:t>
            </a:r>
          </a:p>
        </p:txBody>
      </p:sp>
      <p:pic>
        <p:nvPicPr>
          <p:cNvPr id="6" name="Picture 5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2468880" cy="1097280"/>
          </a:xfrm>
          <a:prstGeom prst="roundRect">
            <a:avLst/>
          </a:prstGeom>
          <a:solidFill>
            <a:srgbClr val="E30613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FABER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Italian Ventilation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468880" cy="1097280"/>
          </a:xfrm>
          <a:prstGeom prst="roundRect">
            <a:avLst/>
          </a:prstGeom>
          <a:solidFill>
            <a:srgbClr val="011E41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ELECTROLUX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Swedish Eco Cooking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1097280"/>
          </a:xfrm>
          <a:prstGeom prst="roundRect">
            <a:avLst/>
          </a:prstGeom>
          <a:solidFill>
            <a:srgbClr val="00828A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SIEMENS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German Smart Tech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828800"/>
            <a:ext cx="2468880" cy="1097280"/>
          </a:xfrm>
          <a:prstGeom prst="roundRect">
            <a:avLst/>
          </a:prstGeom>
          <a:solidFill>
            <a:srgbClr val="E31B23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BOSCH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German Laundry/Dish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90672"/>
            <a:ext cx="2468880" cy="10972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KAFF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Premium Hobs/Hoods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090672"/>
            <a:ext cx="2468880" cy="1097280"/>
          </a:xfrm>
          <a:prstGeom prst="roundRect">
            <a:avLst/>
          </a:prstGeom>
          <a:solidFill>
            <a:srgbClr val="D30116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HÄFELE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German 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90672"/>
            <a:ext cx="2468880" cy="1097280"/>
          </a:xfrm>
          <a:prstGeom prst="roundRect">
            <a:avLst/>
          </a:prstGeom>
          <a:solidFill>
            <a:srgbClr val="E31E24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HINDWARE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Italian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090672"/>
            <a:ext cx="2468880" cy="1097280"/>
          </a:xfrm>
          <a:prstGeom prst="roundRect">
            <a:avLst/>
          </a:prstGeom>
          <a:solidFill>
            <a:srgbClr val="2D2D2D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CARYSIL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Quartz Sinks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52544"/>
            <a:ext cx="2468880" cy="1097280"/>
          </a:xfrm>
          <a:prstGeom prst="roundRect">
            <a:avLst/>
          </a:prstGeom>
          <a:solidFill>
            <a:srgbClr val="005A9C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A. O. SMITH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Water Heaters/RO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352544"/>
            <a:ext cx="2468880" cy="1097280"/>
          </a:xfrm>
          <a:prstGeom prst="roundRect">
            <a:avLst/>
          </a:prstGeom>
          <a:solidFill>
            <a:srgbClr val="0A5EA7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ZERO B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Alkaline Purifiers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52544"/>
            <a:ext cx="2468880" cy="109728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RACOLD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Thermal Heating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4352544"/>
            <a:ext cx="2468880" cy="1097280"/>
          </a:xfrm>
          <a:prstGeom prst="roundRect">
            <a:avLst/>
          </a:prstGeom>
          <a:solidFill>
            <a:srgbClr val="00A0E9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DAIKIN</a:t>
            </a:r>
          </a:p>
          <a:p>
            <a:pPr algn="ctr">
              <a:defRPr sz="850">
                <a:solidFill>
                  <a:srgbClr val="E6E6E6"/>
                </a:solidFill>
                <a:latin typeface="Arial"/>
              </a:defRPr>
            </a:pPr>
            <a:r>
              <a:t>Japanese HVAC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ght_appliances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Curated Product Verticals</a:t>
            </a:r>
          </a:p>
        </p:txBody>
      </p:sp>
      <p:pic>
        <p:nvPicPr>
          <p:cNvPr id="6" name="Picture 5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1500"/>
              </a:spcAft>
              <a:defRPr sz="1100" b="1">
                <a:solidFill>
                  <a:srgbClr val="AA8420"/>
                </a:solidFill>
                <a:latin typeface="Arial"/>
              </a:defRPr>
            </a:pPr>
            <a:r>
              <a:t>CULINARY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Designer Chimneys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Built-in Hobs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Built-in Ovens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Microwave Ovens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1500"/>
              </a:spcAft>
              <a:defRPr sz="1100" b="1">
                <a:solidFill>
                  <a:srgbClr val="AA8420"/>
                </a:solidFill>
                <a:latin typeface="Arial"/>
              </a:defRPr>
            </a:pPr>
            <a:r>
              <a:t>REFRIGERATION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Built-in Cooling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Luxury Refrigerators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Beverage Cabinets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1500"/>
              </a:spcAft>
              <a:defRPr sz="1100" b="1">
                <a:solidFill>
                  <a:srgbClr val="AA8420"/>
                </a:solidFill>
                <a:latin typeface="Arial"/>
              </a:defRPr>
            </a:pPr>
            <a:r>
              <a:t>LAUNDRY &amp; UTILITY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Built-in Dishwashers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Washing Machines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Heat Dryers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1500"/>
              </a:spcAft>
              <a:defRPr sz="1100" b="1">
                <a:solidFill>
                  <a:srgbClr val="AA8420"/>
                </a:solidFill>
                <a:latin typeface="Arial"/>
              </a:defRPr>
            </a:pPr>
            <a:r>
              <a:t>WATER &amp; COMFORT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Quartz Composite Sinks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Designer Faucets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Water Purifiers</a:t>
            </a:r>
          </a:p>
          <a:p>
            <a:pPr>
              <a:spcAft>
                <a:spcPts val="800"/>
              </a:spcAft>
              <a:defRPr sz="1050">
                <a:solidFill>
                  <a:srgbClr val="0D1727"/>
                </a:solidFill>
                <a:latin typeface="Arial"/>
              </a:defRPr>
            </a:pPr>
            <a:r>
              <a:t>• Water Heaters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ght_kitch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Market Potential &amp; Traction</a:t>
            </a:r>
          </a:p>
        </p:txBody>
      </p:sp>
      <p:pic>
        <p:nvPicPr>
          <p:cNvPr id="6" name="Picture 5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400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Built-in defaults: </a:t>
            </a:r>
            <a:r>
              <a:rPr sz="1300">
                <a:solidFill>
                  <a:srgbClr val="5C6C84"/>
                </a:solidFill>
                <a:latin typeface="Arial"/>
              </a:rPr>
              <a:t>High modular kitchen upgrades.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Market speed: </a:t>
            </a:r>
            <a:r>
              <a:rPr sz="1300">
                <a:solidFill>
                  <a:srgbClr val="5C6C84"/>
                </a:solidFill>
                <a:latin typeface="Arial"/>
              </a:rPr>
              <a:t>Strong upscale home transaction growth.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Allocated budgets: </a:t>
            </a:r>
            <a:r>
              <a:rPr sz="1300">
                <a:solidFill>
                  <a:srgbClr val="5C6C84"/>
                </a:solidFill>
                <a:latin typeface="Arial"/>
              </a:rPr>
              <a:t>Growing premium appliance focus.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4592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3600" b="1">
                <a:solidFill>
                  <a:srgbClr val="AA8420"/>
                </a:solidFill>
                <a:latin typeface="Georgia"/>
              </a:defRPr>
            </a:pPr>
            <a:r>
              <a:t>18%</a:t>
            </a:r>
          </a:p>
          <a:p>
            <a:pPr algn="ctr">
              <a:defRPr sz="900" b="1">
                <a:solidFill>
                  <a:srgbClr val="0D1727"/>
                </a:solidFill>
                <a:latin typeface="Arial"/>
              </a:defRPr>
            </a:pPr>
            <a:r>
              <a:t>YoY CATEGORY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65760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3600" b="1">
                <a:solidFill>
                  <a:srgbClr val="AA8420"/>
                </a:solidFill>
                <a:latin typeface="Georgia"/>
              </a:defRPr>
            </a:pPr>
            <a:r>
              <a:t>₹8L+</a:t>
            </a:r>
          </a:p>
          <a:p>
            <a:pPr algn="ctr">
              <a:defRPr sz="900" b="1">
                <a:solidFill>
                  <a:srgbClr val="0D1727"/>
                </a:solidFill>
                <a:latin typeface="Arial"/>
              </a:defRPr>
            </a:pPr>
            <a:r>
              <a:t>AVERAGE SHOWROOM TICKET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ght_appliances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Collaboration Framework</a:t>
            </a:r>
          </a:p>
        </p:txBody>
      </p:sp>
      <p:pic>
        <p:nvPicPr>
          <p:cNvPr id="6" name="Picture 5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Retail showcase: </a:t>
            </a:r>
            <a:r>
              <a:rPr sz="1300">
                <a:solidFill>
                  <a:srgbClr val="5C6C84"/>
                </a:solidFill>
                <a:latin typeface="Arial"/>
              </a:rPr>
              <a:t>Global brand dealership margins.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Capital JVs: </a:t>
            </a:r>
            <a:r>
              <a:rPr sz="1300">
                <a:solidFill>
                  <a:srgbClr val="5C6C84"/>
                </a:solidFill>
                <a:latin typeface="Arial"/>
              </a:rPr>
              <a:t>Scaling showroom cabinetry expansions.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Designer network: </a:t>
            </a:r>
            <a:r>
              <a:rPr sz="1300">
                <a:solidFill>
                  <a:srgbClr val="5C6C84"/>
                </a:solidFill>
                <a:latin typeface="Arial"/>
              </a:rPr>
              <a:t>Referral program for architects.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Bulk builders: </a:t>
            </a:r>
            <a:r>
              <a:rPr sz="1300">
                <a:solidFill>
                  <a:srgbClr val="5C6C84"/>
                </a:solidFill>
                <a:latin typeface="Arial"/>
              </a:rPr>
              <a:t>Developer pre-install kitchen packs.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6382512" y="1719072"/>
            <a:ext cx="5120640" cy="347472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19072"/>
            <a:ext cx="5120640" cy="347472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Showroom Gallery</a:t>
            </a:r>
          </a:p>
        </p:txBody>
      </p:sp>
      <p:pic>
        <p:nvPicPr>
          <p:cNvPr id="4" name="Picture 3" descr="dreamhom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ight_kitchen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120640" cy="3474720"/>
          </a:xfrm>
          <a:prstGeom prst="rect">
            <a:avLst/>
          </a:prstGeom>
        </p:spPr>
      </p:pic>
      <p:pic>
        <p:nvPicPr>
          <p:cNvPr id="7" name="Picture 6" descr="bright_appliances_dis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512064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C6C84"/>
                </a:solidFill>
                <a:latin typeface="Arial"/>
              </a:defRPr>
            </a:pPr>
            <a:r>
              <a:t>Left: Sunlit Custom Showroom Concept  |  Right: Premium Built-In Hob &amp; Chimney Display Workspace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ght_kitch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A8420"/>
                </a:solidFill>
                <a:latin typeface="Arial"/>
              </a:defRPr>
            </a:pPr>
            <a:r>
              <a:t>INVESTOR &amp; COLLABORATION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727"/>
                </a:solidFill>
                <a:latin typeface="Georgia"/>
              </a:defRPr>
            </a:pPr>
            <a:r>
              <a:t>Initiate Collaboration</a:t>
            </a:r>
          </a:p>
        </p:txBody>
      </p:sp>
      <p:pic>
        <p:nvPicPr>
          <p:cNvPr id="6" name="Picture 5" descr="dreamhome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820095" y="365760"/>
            <a:ext cx="640080" cy="640080"/>
          </a:xfrm>
          <a:prstGeom prst="roundRect">
            <a:avLst/>
          </a:prstGeom>
          <a:noFill/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943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Address: </a:t>
            </a:r>
            <a:r>
              <a:rPr sz="1300">
                <a:solidFill>
                  <a:srgbClr val="5C6C84"/>
                </a:solidFill>
                <a:latin typeface="Arial"/>
              </a:rPr>
              <a:t># 301/1, B/W 16th &amp; 17th Cross, Sampige Road, Malleshwaram, Bangalore - 560003.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Store Contact: </a:t>
            </a:r>
            <a:r>
              <a:rPr sz="1300">
                <a:solidFill>
                  <a:srgbClr val="5C6C84"/>
                </a:solidFill>
                <a:latin typeface="Arial"/>
              </a:rPr>
              <a:t>080-23344055 | +91 93795 99399.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1727"/>
                </a:solidFill>
                <a:latin typeface="Arial"/>
              </a:rPr>
              <a:t>Corporate Email: </a:t>
            </a:r>
            <a:r>
              <a:rPr sz="1300">
                <a:solidFill>
                  <a:srgbClr val="5C6C84"/>
                </a:solidFill>
                <a:latin typeface="Arial"/>
              </a:rPr>
              <a:t>dreamhome.bengalure@gmail.com.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645920"/>
            <a:ext cx="4297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2000"/>
              </a:spcAft>
              <a:defRPr sz="1400" b="1">
                <a:solidFill>
                  <a:srgbClr val="AA8420"/>
                </a:solidFill>
                <a:latin typeface="Arial"/>
              </a:defRPr>
            </a:pPr>
            <a:r>
              <a:t>LET'S BUILD TOGETHER</a:t>
            </a:r>
          </a:p>
          <a:p>
            <a:pPr algn="l">
              <a:spcAft>
                <a:spcPts val="1400"/>
              </a:spcAft>
              <a:defRPr sz="1100">
                <a:solidFill>
                  <a:srgbClr val="0D1727"/>
                </a:solidFill>
                <a:latin typeface="Arial"/>
              </a:defRPr>
            </a:pPr>
            <a:r>
              <a:t>We welcome brands, designers, and developers to schedule a private showroom walkthrough or margin review.</a:t>
            </a:r>
          </a:p>
          <a:p>
            <a:pPr algn="l">
              <a:defRPr sz="1100">
                <a:solidFill>
                  <a:srgbClr val="5C6C84"/>
                </a:solidFill>
                <a:latin typeface="Arial"/>
              </a:defRPr>
            </a:pPr>
            <a:r>
              <a:t>Connect with us to explore floorplans, margin structures, and dealer frameworks.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